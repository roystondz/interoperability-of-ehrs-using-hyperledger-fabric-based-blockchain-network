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5EEAD4"/>
                </a:solidFill>
                <a:latin typeface="Arial" panose="020B060402020209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5EEAD4"/>
                </a:solidFill>
                <a:latin typeface="Arial" panose="020B0604020202090204"/>
              </a:rPr>
              <a:t>Throughput Comparison (TPS)</a:t>
            </a:r>
            <a:endParaRPr sz="1100" b="0" i="0" u="none" strike="noStrike">
              <a:solidFill>
                <a:srgbClr val="5EEAD4"/>
              </a:solidFill>
              <a:latin typeface="Arial" panose="020B060402020209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(TPS)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FFFFFF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Sheet1!$A$2:$A$4</c:f>
              <c:numCache>
                <c:ptCount val="0"/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20</c:v>
                </c:pt>
                <c:pt idx="2">
                  <c:v>120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4A3B8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1E4A7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4A3B8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b42855e3-09da-4237-b222-231d4a35e07d}"/>
      </c:ext>
    </c:extLst>
  </c:chart>
  <c:spPr>
    <a:solidFill>
      <a:srgbClr val="081628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05840"/>
            <a:ext cx="3200400" cy="320040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1E4A7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548640"/>
            <a:ext cx="2011680" cy="2011680"/>
          </a:xfrm>
          <a:prstGeom prst="ellipse">
            <a:avLst/>
          </a:prstGeom>
          <a:solidFill>
            <a:srgbClr val="0918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7680" y="713232"/>
            <a:ext cx="23774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13232"/>
            <a:ext cx="2377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MAJOR PROJECT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7315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Curanet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68580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of Electronic Health Records</a:t>
            </a:r>
            <a:endParaRPr lang="en-US" sz="1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Hyperledger Fabric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5029200" cy="27432"/>
          </a:xfrm>
          <a:prstGeom prst="rect">
            <a:avLst/>
          </a:prstGeom>
          <a:solidFill>
            <a:srgbClr val="1E4A7C"/>
          </a:solidFill>
          <a:ln w="12700">
            <a:solidFill>
              <a:srgbClr val="1E4A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9923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Chirag K Poojary  –  NNM22CS050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3101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 C  –  NNM22CS122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621024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Royston Akash Dsouza  –  NNM22CS146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6634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Puneeth R P  |  NMAM Institute of Technology, Nitte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53E3E"/>
                </a:solidFill>
              </a:rPr>
              <a:t>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2029968" cy="960120"/>
          </a:xfrm>
          <a:prstGeom prst="rect">
            <a:avLst/>
          </a:prstGeom>
          <a:solidFill>
            <a:srgbClr val="0D2040"/>
          </a:solidFill>
          <a:ln w="1905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07008"/>
            <a:ext cx="2029968" cy="5029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709928"/>
            <a:ext cx="2029968" cy="438912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Avg. Breach Cost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96312" y="1207008"/>
            <a:ext cx="2029968" cy="960120"/>
          </a:xfrm>
          <a:prstGeom prst="rect">
            <a:avLst/>
          </a:prstGeom>
          <a:solidFill>
            <a:srgbClr val="0D2040"/>
          </a:solidFill>
          <a:ln w="19050">
            <a:solidFill>
              <a:srgbClr val="DD6B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96312" y="1207008"/>
            <a:ext cx="2029968" cy="5029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96312" y="1709928"/>
            <a:ext cx="2029968" cy="438912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Hospitals Hit by Ransomware (2024)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72584" y="1207008"/>
            <a:ext cx="2029968" cy="960120"/>
          </a:xfrm>
          <a:prstGeom prst="rect">
            <a:avLst/>
          </a:prstGeom>
          <a:solidFill>
            <a:srgbClr val="0D2040"/>
          </a:solidFill>
          <a:ln w="19050">
            <a:solidFill>
              <a:srgbClr val="805A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72584" y="1207008"/>
            <a:ext cx="2029968" cy="5029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50–150MB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72584" y="1709928"/>
            <a:ext cx="2029968" cy="438912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Imaging Files Too Large for Chain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48856" y="1207008"/>
            <a:ext cx="2029968" cy="960120"/>
          </a:xfrm>
          <a:prstGeom prst="rect">
            <a:avLst/>
          </a:prstGeom>
          <a:solidFill>
            <a:srgbClr val="0D2040"/>
          </a:solidFill>
          <a:ln w="19050">
            <a:solidFill>
              <a:srgbClr val="3182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48856" y="1207008"/>
            <a:ext cx="2029968" cy="5029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TPS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48856" y="1709928"/>
            <a:ext cx="2029968" cy="438912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Ethereum – Too Slow for Healthcare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331720"/>
            <a:ext cx="4114800" cy="2487168"/>
          </a:xfrm>
          <a:prstGeom prst="rect">
            <a:avLst/>
          </a:prstGeom>
          <a:solidFill>
            <a:srgbClr val="0D1F38"/>
          </a:solidFill>
          <a:ln w="10160">
            <a:solidFill>
              <a:srgbClr val="1E4A7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233172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3E3E"/>
                </a:solidFill>
              </a:rPr>
              <a:t>Core Problem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2697480"/>
            <a:ext cx="393192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Fragmented EHR systems → lack of secure, auditable sharing across healthcare stakeholders.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Hospitals, labs, pharmacies, and clinics all run isolated databases with no cross-organisation sharing. A patient visiting a new specialist must start from scratch.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331720"/>
            <a:ext cx="4206240" cy="2487168"/>
          </a:xfrm>
          <a:prstGeom prst="rect">
            <a:avLst/>
          </a:prstGeom>
          <a:solidFill>
            <a:srgbClr val="0D1F3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233172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Requirements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2724912"/>
            <a:ext cx="4023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🔐  Confidentiality – only authorised access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9160" y="3063240"/>
            <a:ext cx="4023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🔒  Integrity – tamper-proof immutable records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9160" y="3401568"/>
            <a:ext cx="4023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🕵️  Provenance – full audit trail &amp; history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9160" y="3739896"/>
            <a:ext cx="4023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⚙️  Access Control – role-based permissions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9160" y="4078224"/>
            <a:ext cx="4023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📊  Auditability – transparent ledger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09160" y="4416552"/>
            <a:ext cx="40233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🌐  Standards-based Interoperability (FHIR/HL7)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OUR SOLUTION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Curanet – What We Built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5029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8412480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8412480" cy="43891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A permissioned blockchain + IPFS platform giving patients control, ensuring full auditability, and solving the Healthcare Trilemma.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83080"/>
            <a:ext cx="2743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8308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Security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28600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2926080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✓  </a:t>
            </a:r>
            <a:r>
              <a:rPr lang="en-US" sz="1000" dirty="0">
                <a:solidFill>
                  <a:srgbClr val="1E293B"/>
                </a:solidFill>
              </a:rPr>
              <a:t>Permissioned Hyperledger Fabric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" y="3364992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✓  </a:t>
            </a:r>
            <a:r>
              <a:rPr lang="en-US" sz="1000" dirty="0">
                <a:solidFill>
                  <a:srgbClr val="1E293B"/>
                </a:solidFill>
              </a:rPr>
              <a:t>X.509 certificates + TLS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3803904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✓  </a:t>
            </a:r>
            <a:r>
              <a:rPr lang="en-US" sz="1000" dirty="0">
                <a:solidFill>
                  <a:srgbClr val="1E293B"/>
                </a:solidFill>
              </a:rPr>
              <a:t>AES-256 encrypted IPFS files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4242816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✓  </a:t>
            </a:r>
            <a:r>
              <a:rPr lang="en-US" sz="1000" dirty="0">
                <a:solidFill>
                  <a:srgbClr val="1E293B"/>
                </a:solidFill>
              </a:rPr>
              <a:t>Immutable audit trail on ledger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46120" y="178308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46120" y="1783080"/>
            <a:ext cx="2743200" cy="384048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46120" y="178308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Scalability</a:t>
            </a:r>
            <a:endParaRPr lang="en-US" sz="14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286000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83280" y="2926080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05AD5"/>
                </a:solidFill>
              </a:rPr>
              <a:t>✓  </a:t>
            </a:r>
            <a:r>
              <a:rPr lang="en-US" sz="1000" dirty="0">
                <a:solidFill>
                  <a:srgbClr val="1E293B"/>
                </a:solidFill>
              </a:rPr>
              <a:t>Off-chain IPFS (no ledger bloat)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383280" y="3364992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05AD5"/>
                </a:solidFill>
              </a:rPr>
              <a:t>✓  </a:t>
            </a:r>
            <a:r>
              <a:rPr lang="en-US" sz="1000" dirty="0">
                <a:solidFill>
                  <a:srgbClr val="1E293B"/>
                </a:solidFill>
              </a:rPr>
              <a:t>CouchDB rich-query world state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383280" y="3803904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05AD5"/>
                </a:solidFill>
              </a:rPr>
              <a:t>✓  </a:t>
            </a:r>
            <a:r>
              <a:rPr lang="en-US" sz="1000" dirty="0">
                <a:solidFill>
                  <a:srgbClr val="1E293B"/>
                </a:solidFill>
              </a:rPr>
              <a:t>Raft ordering consensus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383280" y="4242816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05AD5"/>
                </a:solidFill>
              </a:rPr>
              <a:t>✓  </a:t>
            </a:r>
            <a:r>
              <a:rPr lang="en-US" sz="1000" dirty="0">
                <a:solidFill>
                  <a:srgbClr val="1E293B"/>
                </a:solidFill>
              </a:rPr>
              <a:t>120 TPS peak throughput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126480" y="1783080"/>
            <a:ext cx="2743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26480" y="1783080"/>
            <a:ext cx="2743200" cy="384048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126480" y="178308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Interoperability</a:t>
            </a:r>
            <a:endParaRPr lang="en-US" sz="14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286000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63640" y="2926080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182CE"/>
                </a:solidFill>
              </a:rPr>
              <a:t>✓  </a:t>
            </a:r>
            <a:r>
              <a:rPr lang="en-US" sz="1000" dirty="0">
                <a:solidFill>
                  <a:srgbClr val="1E293B"/>
                </a:solidFill>
              </a:rPr>
              <a:t>FHIR ready data layer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263640" y="3364992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182CE"/>
                </a:solidFill>
              </a:rPr>
              <a:t>✓  </a:t>
            </a:r>
            <a:r>
              <a:rPr lang="en-US" sz="1000" dirty="0">
                <a:solidFill>
                  <a:srgbClr val="1E293B"/>
                </a:solidFill>
              </a:rPr>
              <a:t>Cross-hospital patient referrals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263640" y="3803904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182CE"/>
                </a:solidFill>
              </a:rPr>
              <a:t>✓  </a:t>
            </a:r>
            <a:r>
              <a:rPr lang="en-US" sz="1000" dirty="0">
                <a:solidFill>
                  <a:srgbClr val="1E293B"/>
                </a:solidFill>
              </a:rPr>
              <a:t>Unified patient history view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263640" y="4242816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182CE"/>
                </a:solidFill>
              </a:rPr>
              <a:t>✓  </a:t>
            </a:r>
            <a:r>
              <a:rPr lang="en-US" sz="1000" dirty="0">
                <a:solidFill>
                  <a:srgbClr val="1E293B"/>
                </a:solidFill>
              </a:rPr>
              <a:t>Role-based multi-org access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TECH STACK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5029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2743200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8132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463040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2.5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78992" y="1874520"/>
            <a:ext cx="1920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Permissioned blockchain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Raft consensus · MSP · CA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1280160"/>
            <a:ext cx="2743200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48132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59352" y="1463040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Chaincode (Node.js)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959352" y="1874520"/>
            <a:ext cx="1920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Smart contract logic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RBAC · Access control lists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1280160"/>
            <a:ext cx="2743200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48132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39712" y="1463040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CouchDB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839712" y="1874520"/>
            <a:ext cx="1920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World state + rich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JSON query indexes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65760" y="3108960"/>
            <a:ext cx="2743200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310128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78992" y="3291840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+ Pinata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1078992" y="3703320"/>
            <a:ext cx="1920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Off-chain file storage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Content-addressed CIDs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246120" y="3108960"/>
            <a:ext cx="2743200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3310128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59352" y="3291840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3959352" y="3703320"/>
            <a:ext cx="1920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Fabric SDK gateway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REST API endpoints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126480" y="3108960"/>
            <a:ext cx="2743200" cy="16642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3310128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39712" y="3291840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6839712" y="3703320"/>
            <a:ext cx="19202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Role-based portal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Admin · Doctor · Patient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– Three-Tier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5029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/tmp/ehr_project/Interoperability-of-EHRs-using-Hyperledger-Fabric-based-Blockchain-Network-main/docs/architecture-support/HyperLeger-Fabric-Architecture.drawio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65760" y="1188720"/>
            <a:ext cx="4389120" cy="3611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937760" y="1188720"/>
            <a:ext cx="379476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937760" y="1188720"/>
            <a:ext cx="73152" cy="1207008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74920" y="1243584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74920" y="1554480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 React.js Role-Based Portal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74920" y="1801368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 Patient / Doctor / Admin Dashboards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74920" y="2048256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 Real-time data via REST API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937760" y="2487168"/>
            <a:ext cx="379476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37760" y="2487168"/>
            <a:ext cx="73152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2542032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Blockchain Layer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74920" y="2757043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 Node.js + Express (18+ endpoints)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74920" y="2966466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 Hyperledger Fabric 2.5 Network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074920" y="3175889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 Node.js Chaincode (Smart Contracts)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074920" y="3376422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 CouchDB World State Database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937760" y="3785616"/>
            <a:ext cx="379476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937760" y="3785616"/>
            <a:ext cx="73152" cy="1207008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74920" y="3840480"/>
            <a:ext cx="3566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74920" y="4151376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 IPFS + Pinata CDN off-chain storage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074920" y="4398264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 AES-256 encrypted medical files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074920" y="4645152"/>
            <a:ext cx="3566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·  Content Identifiers (CIDs) on-chain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</a:rPr>
              <a:t>CHAINCODE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Smart Contract Logic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749040" cy="3566160"/>
          </a:xfrm>
          <a:prstGeom prst="rect">
            <a:avLst/>
          </a:prstGeom>
          <a:solidFill>
            <a:srgbClr val="0D20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43000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System Features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📋  Add / View / Update EHRs on blockchain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938528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🔐  Role-based access control (patient, doctor, admin)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322576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🔒  Immutable transaction records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706624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📦  IPFS for large data like scans &amp; images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3090672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📊  Real-time status dashboard for stakeholders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474720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🔎  Audit trails and data provenance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858768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🚨  Emergency break-glass access workflow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242816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✅  Patient-controlled grant / revoke access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51960" y="1143000"/>
            <a:ext cx="4572000" cy="402336"/>
          </a:xfrm>
          <a:prstGeom prst="rect">
            <a:avLst/>
          </a:prstGeom>
          <a:solidFill>
            <a:srgbClr val="0D2040"/>
          </a:solidFill>
          <a:ln w="6350">
            <a:solidFill>
              <a:srgbClr val="1E4A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143000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onboardPatient()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56832" y="1143000"/>
            <a:ext cx="21031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Register patient + consent flags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51960" y="1591056"/>
            <a:ext cx="4572000" cy="402336"/>
          </a:xfrm>
          <a:prstGeom prst="rect">
            <a:avLst/>
          </a:prstGeom>
          <a:solidFill>
            <a:srgbClr val="112840"/>
          </a:solidFill>
          <a:ln w="6350">
            <a:solidFill>
              <a:srgbClr val="1E4A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591056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onboardDoctor()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56832" y="1591056"/>
            <a:ext cx="21031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Hospital onboards doctor with dept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039112"/>
            <a:ext cx="4572000" cy="402336"/>
          </a:xfrm>
          <a:prstGeom prst="rect">
            <a:avLst/>
          </a:prstGeom>
          <a:solidFill>
            <a:srgbClr val="0D2040"/>
          </a:solidFill>
          <a:ln w="6350">
            <a:solidFill>
              <a:srgbClr val="1E4A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2039112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addRecord()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56832" y="2039112"/>
            <a:ext cx="21031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Doctor adds IPFS record for patient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51960" y="2487168"/>
            <a:ext cx="4572000" cy="402336"/>
          </a:xfrm>
          <a:prstGeom prst="rect">
            <a:avLst/>
          </a:prstGeom>
          <a:solidFill>
            <a:srgbClr val="112840"/>
          </a:solidFill>
          <a:ln w="6350">
            <a:solidFill>
              <a:srgbClr val="1E4A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2487168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grantAccess()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56832" y="2487168"/>
            <a:ext cx="21031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Patient grants doctor access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51960" y="2935224"/>
            <a:ext cx="4572000" cy="402336"/>
          </a:xfrm>
          <a:prstGeom prst="rect">
            <a:avLst/>
          </a:prstGeom>
          <a:solidFill>
            <a:srgbClr val="0D2040"/>
          </a:solidFill>
          <a:ln w="6350">
            <a:solidFill>
              <a:srgbClr val="1E4A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2935224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revokeAccess()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56832" y="2935224"/>
            <a:ext cx="21031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Patient removes doctor access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51960" y="3383280"/>
            <a:ext cx="4572000" cy="402336"/>
          </a:xfrm>
          <a:prstGeom prst="rect">
            <a:avLst/>
          </a:prstGeom>
          <a:solidFill>
            <a:srgbClr val="112840"/>
          </a:solidFill>
          <a:ln w="6350">
            <a:solidFill>
              <a:srgbClr val="1E4A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3383280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requestAccess()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56832" y="3383280"/>
            <a:ext cx="21031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Doctor requests → patient approves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51960" y="3831336"/>
            <a:ext cx="4572000" cy="402336"/>
          </a:xfrm>
          <a:prstGeom prst="rect">
            <a:avLst/>
          </a:prstGeom>
          <a:solidFill>
            <a:srgbClr val="0D2040"/>
          </a:solidFill>
          <a:ln w="6350">
            <a:solidFill>
              <a:srgbClr val="1E4A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3400" y="3831336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createEmergencyRequest()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56832" y="3831336"/>
            <a:ext cx="21031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Break-glass emergency workflow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4279392"/>
            <a:ext cx="4572000" cy="402336"/>
          </a:xfrm>
          <a:prstGeom prst="rect">
            <a:avLst/>
          </a:prstGeom>
          <a:solidFill>
            <a:srgbClr val="112840"/>
          </a:solidFill>
          <a:ln w="6350">
            <a:solidFill>
              <a:srgbClr val="1E4A7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3400" y="4279392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queryHistoryOfAsset()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56832" y="4279392"/>
            <a:ext cx="21031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Full immutable audit trail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DATA FLOW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Lifecycle – How Data Flows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5029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/tmp/ehr_project/Interoperability-of-EHRs-using-Hyperledger-Fabric-based-Blockchain-Network-main/docs/architecture-support/block-flow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577840" y="1234440"/>
            <a:ext cx="3154680" cy="3566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243584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24358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12064" y="1682496"/>
            <a:ext cx="36576" cy="137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6112" y="1243584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96112" y="1463040"/>
            <a:ext cx="4526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Identity verified by Fabric CA / MSP. X.509 cert loaded from wallet.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1792224"/>
            <a:ext cx="438912" cy="438912"/>
          </a:xfrm>
          <a:prstGeom prst="ellipse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179222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12064" y="2231136"/>
            <a:ext cx="36576" cy="137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" y="1792224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96112" y="2011680"/>
            <a:ext cx="4526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Medical report → AES-256 encrypted → pushed to IPFS. CID returned.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0040" y="2340864"/>
            <a:ext cx="438912" cy="438912"/>
          </a:xfrm>
          <a:prstGeom prst="ellipse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234086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12064" y="2779776"/>
            <a:ext cx="36576" cy="137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6112" y="2340864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Tx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96112" y="2560320"/>
            <a:ext cx="4526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Backend sends transaction proposal (CID + metadata) to endorsing peers.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20040" y="2889504"/>
            <a:ext cx="438912" cy="438912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288950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12064" y="3328416"/>
            <a:ext cx="36576" cy="137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96112" y="2889504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96112" y="3108960"/>
            <a:ext cx="4526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Peers execute chaincode, sign ReadWriteSet. Multi-org policy satisfied.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0040" y="3438144"/>
            <a:ext cx="438912" cy="43891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0040" y="343814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12064" y="3877056"/>
            <a:ext cx="36576" cy="137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96112" y="3438144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96112" y="3657600"/>
            <a:ext cx="4526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Orderer (Raft) batches transactions into a block, broadcasts to all peers.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20040" y="3986784"/>
            <a:ext cx="438912" cy="438912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0040" y="398678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12064" y="4425696"/>
            <a:ext cx="36576" cy="137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96112" y="3986784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96112" y="4206240"/>
            <a:ext cx="4526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Peers validate &amp; append block to ledger. CouchDB World State updated.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320040" y="4535424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20040" y="453542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896112" y="4535424"/>
            <a:ext cx="12801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Check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96112" y="4754880"/>
            <a:ext cx="4526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Query time: chaincode checks ACL. Returns CID only if caller is authorised.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SECURITY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Technologies Used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5029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07008"/>
            <a:ext cx="2807208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07008"/>
            <a:ext cx="2807208" cy="329184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64408" y="1207008"/>
            <a:ext cx="2807208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4408" y="1207008"/>
            <a:ext cx="2807208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08776" y="1207008"/>
            <a:ext cx="2807208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08776" y="1207008"/>
            <a:ext cx="2807208" cy="329184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3145536"/>
            <a:ext cx="2807208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145536"/>
            <a:ext cx="2807208" cy="329184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3145536"/>
            <a:ext cx="2807208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64408" y="3145536"/>
            <a:ext cx="2807208" cy="32918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21945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5800" y="1207008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Fabric CA – X.509 Certificates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11480" y="1591056"/>
            <a:ext cx="2633472" cy="1335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64748B"/>
                </a:solidFill>
              </a:rPr>
              <a:t>Fabric Certificate Authority issues X.509 certificates for all network participants. Every identity (hospital, doctor, patient) has a unique signed certificate that governs their permissions on the network.</a:t>
            </a:r>
            <a:endParaRPr lang="en-US" sz="88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261872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30168" y="1207008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TLS Encryption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3355848" y="1591056"/>
            <a:ext cx="2633472" cy="1335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64748B"/>
                </a:solidFill>
              </a:rPr>
              <a:t>All communication between peers, orderers, and clients is encrypted using TLS. This prevents man-in-the-middle attacks and ensures data in transit is never readable by unauthorised parties.</a:t>
            </a:r>
            <a:endParaRPr lang="en-US" sz="88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261872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74536" y="1207008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AES Encryption (Off-Chain Files)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6300216" y="1591056"/>
            <a:ext cx="2633472" cy="1335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64748B"/>
                </a:solidFill>
              </a:rPr>
              <a:t>Files stored in IPFS are encrypted using AES before upload. Even if IPFS content is accessed by an adversary, the file is unreadable without the decryption key.</a:t>
            </a:r>
            <a:endParaRPr lang="en-US" sz="88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3200400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630168" y="3145536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Future Enhancement – ABE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3355848" y="3529584"/>
            <a:ext cx="2633472" cy="1335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64748B"/>
                </a:solidFill>
              </a:rPr>
              <a:t>Attribute-Based Encryption (ABE) is planned for fine-grained, policy-driven access control — allowing data decryption only when a requestor satisfies a defined attribute policy (e.g. role = doctor AND hospital = HOSP-01).</a:t>
            </a:r>
            <a:endParaRPr lang="en-US" sz="88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200400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85800" y="3145536"/>
            <a:ext cx="23774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On-Chain Integrity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411480" y="3529584"/>
            <a:ext cx="2633472" cy="13350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64748B"/>
                </a:solidFill>
              </a:rPr>
              <a:t>Only the encrypted hash (CID) is stored on the blockchain — never the raw file. This prevents tampering: any modification to the file would produce a different hash, immediately detected.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</a:rPr>
              <a:t>SECURITY &amp; CONSTRAINTS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Privacy &amp; Communication Constraints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60520" cy="3749040"/>
          </a:xfrm>
          <a:prstGeom prst="rect">
            <a:avLst/>
          </a:prstGeom>
          <a:solidFill>
            <a:srgbClr val="0D20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416052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4160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Security &amp; Privacy Decisions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517904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1490472"/>
            <a:ext cx="3611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Permissioned network → only authorised identities allowed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911096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1883664"/>
            <a:ext cx="3611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Role-based access enforced directly in chaincode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304288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9808" y="2276856"/>
            <a:ext cx="3611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IPFS files encrypted, only hash stored on blockchain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697480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9808" y="2670048"/>
            <a:ext cx="3611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Audit trails maintained for every transaction</a:t>
            </a:r>
            <a:endParaRPr lang="en-US" sz="9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090672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49808" y="3063240"/>
            <a:ext cx="3611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Off-chain storage avoids blockchain bloat</a:t>
            </a:r>
            <a:endParaRPr lang="en-US" sz="9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483864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9808" y="3456432"/>
            <a:ext cx="3611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CouchDB allows efficient rich queries</a:t>
            </a:r>
            <a:endParaRPr lang="en-US" sz="9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3877056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49808" y="3849624"/>
            <a:ext cx="3611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Fabric endorsement policies ensure correctness</a:t>
            </a:r>
            <a:endParaRPr lang="en-US" sz="9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" y="4270248"/>
            <a:ext cx="228600" cy="2286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49808" y="4242816"/>
            <a:ext cx="3611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Production scaling: Raft ordering, multiple orgs</a:t>
            </a:r>
            <a:endParaRPr lang="en-US" sz="950" dirty="0"/>
          </a:p>
        </p:txBody>
      </p:sp>
      <p:sp>
        <p:nvSpPr>
          <p:cNvPr id="24" name="Shape 14"/>
          <p:cNvSpPr/>
          <p:nvPr/>
        </p:nvSpPr>
        <p:spPr>
          <a:xfrm>
            <a:off x="4663440" y="1097280"/>
            <a:ext cx="4160520" cy="3749040"/>
          </a:xfrm>
          <a:prstGeom prst="rect">
            <a:avLst/>
          </a:prstGeom>
          <a:solidFill>
            <a:srgbClr val="0D2040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5"/>
          <p:cNvSpPr/>
          <p:nvPr/>
        </p:nvSpPr>
        <p:spPr>
          <a:xfrm>
            <a:off x="4663440" y="1097280"/>
            <a:ext cx="4160520" cy="32918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6" name="Text 16"/>
          <p:cNvSpPr/>
          <p:nvPr/>
        </p:nvSpPr>
        <p:spPr>
          <a:xfrm>
            <a:off x="4663440" y="1097280"/>
            <a:ext cx="41605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Communication Constraints</a:t>
            </a:r>
            <a:endParaRPr lang="en-US" sz="1100" dirty="0"/>
          </a:p>
        </p:txBody>
      </p:sp>
      <p:sp>
        <p:nvSpPr>
          <p:cNvPr id="27" name="Shape 17"/>
          <p:cNvSpPr/>
          <p:nvPr/>
        </p:nvSpPr>
        <p:spPr>
          <a:xfrm>
            <a:off x="4736592" y="1508760"/>
            <a:ext cx="4005072" cy="585216"/>
          </a:xfrm>
          <a:prstGeom prst="rect">
            <a:avLst/>
          </a:prstGeom>
          <a:solidFill>
            <a:srgbClr val="0D1A2E"/>
          </a:solidFill>
          <a:ln w="7620">
            <a:solidFill>
              <a:srgbClr val="E53E3E"/>
            </a:solidFill>
            <a:prstDash val="solid"/>
          </a:ln>
        </p:spPr>
      </p:sp>
      <p:sp>
        <p:nvSpPr>
          <p:cNvPr id="28" name="Text 18"/>
          <p:cNvSpPr/>
          <p:nvPr/>
        </p:nvSpPr>
        <p:spPr>
          <a:xfrm>
            <a:off x="4809744" y="1536192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53E3E"/>
                </a:solidFill>
              </a:rPr>
              <a:t>Latency: </a:t>
            </a:r>
            <a:endParaRPr lang="en-US" sz="950" dirty="0"/>
          </a:p>
        </p:txBody>
      </p:sp>
      <p:sp>
        <p:nvSpPr>
          <p:cNvPr id="29" name="Text 19"/>
          <p:cNvSpPr/>
          <p:nvPr/>
        </p:nvSpPr>
        <p:spPr>
          <a:xfrm>
            <a:off x="4809744" y="1737360"/>
            <a:ext cx="38221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Blockchain consensus adds delay compared to a centralised database. Every write goes through endorsement → ordering → commit cycle.</a:t>
            </a:r>
            <a:endParaRPr lang="en-US" sz="850" dirty="0"/>
          </a:p>
        </p:txBody>
      </p:sp>
      <p:sp>
        <p:nvSpPr>
          <p:cNvPr id="30" name="Shape 20"/>
          <p:cNvSpPr/>
          <p:nvPr/>
        </p:nvSpPr>
        <p:spPr>
          <a:xfrm>
            <a:off x="4736592" y="2148840"/>
            <a:ext cx="4005072" cy="585216"/>
          </a:xfrm>
          <a:prstGeom prst="rect">
            <a:avLst/>
          </a:prstGeom>
          <a:solidFill>
            <a:srgbClr val="0D2040"/>
          </a:solidFill>
          <a:ln w="7620">
            <a:solidFill>
              <a:srgbClr val="DD6B20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4809744" y="2176272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D6B20"/>
                </a:solidFill>
              </a:rPr>
              <a:t>Scalability: </a:t>
            </a:r>
            <a:endParaRPr lang="en-US" sz="950" dirty="0"/>
          </a:p>
        </p:txBody>
      </p:sp>
      <p:sp>
        <p:nvSpPr>
          <p:cNvPr id="32" name="Text 22"/>
          <p:cNvSpPr/>
          <p:nvPr/>
        </p:nvSpPr>
        <p:spPr>
          <a:xfrm>
            <a:off x="4809744" y="2377440"/>
            <a:ext cx="38221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Network performance is limited by the number of peers and endorsement policies. More orgs = more overhead.</a:t>
            </a:r>
            <a:endParaRPr lang="en-US" sz="850" dirty="0"/>
          </a:p>
        </p:txBody>
      </p:sp>
      <p:sp>
        <p:nvSpPr>
          <p:cNvPr id="33" name="Shape 23"/>
          <p:cNvSpPr/>
          <p:nvPr/>
        </p:nvSpPr>
        <p:spPr>
          <a:xfrm>
            <a:off x="4736592" y="2788920"/>
            <a:ext cx="4005072" cy="585216"/>
          </a:xfrm>
          <a:prstGeom prst="rect">
            <a:avLst/>
          </a:prstGeom>
          <a:solidFill>
            <a:srgbClr val="0D1A2E"/>
          </a:solidFill>
          <a:ln w="7620">
            <a:solidFill>
              <a:srgbClr val="805AD5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4809744" y="2816352"/>
            <a:ext cx="10058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05AD5"/>
                </a:solidFill>
              </a:rPr>
              <a:t>Storage: </a:t>
            </a:r>
            <a:endParaRPr lang="en-US" sz="950" dirty="0"/>
          </a:p>
        </p:txBody>
      </p:sp>
      <p:sp>
        <p:nvSpPr>
          <p:cNvPr id="35" name="Text 25"/>
          <p:cNvSpPr/>
          <p:nvPr/>
        </p:nvSpPr>
        <p:spPr>
          <a:xfrm>
            <a:off x="4809744" y="3017520"/>
            <a:ext cx="38221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Large medical images (50–150MB) are unsuitable for on-chain storage → solved with off-chain IPFS integration.</a:t>
            </a:r>
            <a:endParaRPr lang="en-US" sz="850" dirty="0"/>
          </a:p>
        </p:txBody>
      </p:sp>
      <p:sp>
        <p:nvSpPr>
          <p:cNvPr id="36" name="Shape 26"/>
          <p:cNvSpPr/>
          <p:nvPr/>
        </p:nvSpPr>
        <p:spPr>
          <a:xfrm>
            <a:off x="4736592" y="3429000"/>
            <a:ext cx="4005072" cy="585216"/>
          </a:xfrm>
          <a:prstGeom prst="rect">
            <a:avLst/>
          </a:prstGeom>
          <a:solidFill>
            <a:srgbClr val="0D2040"/>
          </a:solidFill>
          <a:ln w="7620">
            <a:solidFill>
              <a:srgbClr val="3182CE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4809490" y="3456305"/>
            <a:ext cx="1760220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182CE"/>
                </a:solidFill>
              </a:rPr>
              <a:t>Network Dependency: </a:t>
            </a:r>
            <a:endParaRPr lang="en-US" sz="950" dirty="0"/>
          </a:p>
        </p:txBody>
      </p:sp>
      <p:sp>
        <p:nvSpPr>
          <p:cNvPr id="38" name="Text 28"/>
          <p:cNvSpPr/>
          <p:nvPr/>
        </p:nvSpPr>
        <p:spPr>
          <a:xfrm>
            <a:off x="4809744" y="3657600"/>
            <a:ext cx="38221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IPFS retrieval depends on peer availability. Solved using Pinata CDN + local IPFS node caching.</a:t>
            </a:r>
            <a:endParaRPr lang="en-US" sz="850" dirty="0"/>
          </a:p>
        </p:txBody>
      </p:sp>
      <p:sp>
        <p:nvSpPr>
          <p:cNvPr id="39" name="Shape 29"/>
          <p:cNvSpPr/>
          <p:nvPr/>
        </p:nvSpPr>
        <p:spPr>
          <a:xfrm>
            <a:off x="4736592" y="4069080"/>
            <a:ext cx="4005072" cy="585216"/>
          </a:xfrm>
          <a:prstGeom prst="rect">
            <a:avLst/>
          </a:prstGeom>
          <a:solidFill>
            <a:srgbClr val="0D1A2E"/>
          </a:solidFill>
          <a:ln w="7620">
            <a:solidFill>
              <a:srgbClr val="2C7A7B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4809490" y="4096385"/>
            <a:ext cx="1605915" cy="25590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7A7B"/>
                </a:solidFill>
              </a:rPr>
              <a:t>Interoperability: </a:t>
            </a:r>
            <a:endParaRPr lang="en-US" sz="950" dirty="0"/>
          </a:p>
        </p:txBody>
      </p:sp>
      <p:sp>
        <p:nvSpPr>
          <p:cNvPr id="41" name="Text 31"/>
          <p:cNvSpPr/>
          <p:nvPr/>
        </p:nvSpPr>
        <p:spPr>
          <a:xfrm>
            <a:off x="4809744" y="4297680"/>
            <a:ext cx="382219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Requires FHIR adapters to connect with legacy hospital information systems.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IPFS INTEGRATION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Integration – Decentralised Storage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5029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07008"/>
            <a:ext cx="420624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07008"/>
            <a:ext cx="4206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07008"/>
            <a:ext cx="4206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Decentralised Storage Implementation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554353"/>
            <a:ext cx="398678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9488"/>
                </a:solidFill>
              </a:rPr>
              <a:t>→  </a:t>
            </a:r>
            <a:r>
              <a:rPr lang="en-US" sz="1000" dirty="0">
                <a:solidFill>
                  <a:srgbClr val="1E293B"/>
                </a:solidFill>
              </a:rPr>
              <a:t>Integrated IPFS for storing large medical files (X-rays, MRIs, lab reports, scans)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974596"/>
            <a:ext cx="398678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9488"/>
                </a:solidFill>
              </a:rPr>
              <a:t>→  </a:t>
            </a:r>
            <a:r>
              <a:rPr lang="en-US" sz="1000" dirty="0">
                <a:solidFill>
                  <a:srgbClr val="1E293B"/>
                </a:solidFill>
              </a:rPr>
              <a:t>Implemented file upload mechanism to IPFS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286254"/>
            <a:ext cx="398678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9488"/>
                </a:solidFill>
              </a:rPr>
              <a:t>→  </a:t>
            </a:r>
            <a:r>
              <a:rPr lang="en-US" sz="1000" dirty="0">
                <a:solidFill>
                  <a:srgbClr val="1E293B"/>
                </a:solidFill>
              </a:rPr>
              <a:t>Store IPFS content hashes on blockchain for immutability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571877"/>
            <a:ext cx="398678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9488"/>
                </a:solidFill>
              </a:rPr>
              <a:t>→  </a:t>
            </a:r>
            <a:r>
              <a:rPr lang="en-US" sz="1000" dirty="0">
                <a:solidFill>
                  <a:srgbClr val="1E293B"/>
                </a:solidFill>
              </a:rPr>
              <a:t>Created retrieval system for accessing medical documents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868295"/>
            <a:ext cx="3986784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9488"/>
                </a:solidFill>
              </a:rPr>
              <a:t>→  </a:t>
            </a:r>
            <a:r>
              <a:rPr lang="en-US" sz="1000" dirty="0">
                <a:solidFill>
                  <a:srgbClr val="1E293B"/>
                </a:solidFill>
              </a:rPr>
              <a:t>Reduced on-chain storage costs by keeping large files off-chain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88792"/>
            <a:ext cx="4206240" cy="2926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88792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Benefits Achieved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3650234"/>
            <a:ext cx="398678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✓  </a:t>
            </a:r>
            <a:r>
              <a:rPr lang="en-US" sz="900" dirty="0">
                <a:solidFill>
                  <a:srgbClr val="1E293B"/>
                </a:solidFill>
              </a:rPr>
              <a:t>Decentralised and distributed file storage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3895217"/>
            <a:ext cx="398678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✓  </a:t>
            </a:r>
            <a:r>
              <a:rPr lang="en-US" sz="900" dirty="0">
                <a:solidFill>
                  <a:srgbClr val="1E293B"/>
                </a:solidFill>
              </a:rPr>
              <a:t>Content-addressable storage with cryptographic hashing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4087495"/>
            <a:ext cx="398678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✓  </a:t>
            </a:r>
            <a:r>
              <a:rPr lang="en-US" sz="900" dirty="0">
                <a:solidFill>
                  <a:srgbClr val="1E293B"/>
                </a:solidFill>
              </a:rPr>
              <a:t>Reduced blockchain bloat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4319143"/>
            <a:ext cx="3986784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✓  </a:t>
            </a:r>
            <a:r>
              <a:rPr lang="en-US" sz="900" dirty="0">
                <a:solidFill>
                  <a:srgbClr val="1E293B"/>
                </a:solidFill>
              </a:rPr>
              <a:t>Fast retrieval of medical images and documents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207008"/>
            <a:ext cx="4069080" cy="36118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207008"/>
            <a:ext cx="406908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207008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664208"/>
            <a:ext cx="3886200" cy="475488"/>
          </a:xfrm>
          <a:prstGeom prst="rect">
            <a:avLst/>
          </a:prstGeom>
          <a:solidFill>
            <a:srgbClr val="F8FAFC"/>
          </a:solidFill>
          <a:ln w="10160">
            <a:solidFill>
              <a:srgbClr val="3182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1664208"/>
            <a:ext cx="713232" cy="475488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664208"/>
            <a:ext cx="71323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Upload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14416" y="1664208"/>
            <a:ext cx="30632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Doctor uploads medical file (X-ray, MRI, PDF)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2185416"/>
            <a:ext cx="38862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805AD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46320" y="2185416"/>
            <a:ext cx="713232" cy="475488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185416"/>
            <a:ext cx="71323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Encrypt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14416" y="2185416"/>
            <a:ext cx="30632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File AES-256 encrypted before leaving the server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2706624"/>
            <a:ext cx="3886200" cy="475488"/>
          </a:xfrm>
          <a:prstGeom prst="rect">
            <a:avLst/>
          </a:prstGeom>
          <a:solidFill>
            <a:srgbClr val="F8FAFC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2706624"/>
            <a:ext cx="713232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706624"/>
            <a:ext cx="71323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Pin IPFS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14416" y="2706624"/>
            <a:ext cx="30632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Encrypted file pushed to IPFS via Pinata CDN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3227832"/>
            <a:ext cx="38862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D6B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227832"/>
            <a:ext cx="713232" cy="475488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227832"/>
            <a:ext cx="71323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CID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614416" y="3227832"/>
            <a:ext cx="30632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Content Identifier (CID) returned as unique hash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3749040"/>
            <a:ext cx="3886200" cy="475488"/>
          </a:xfrm>
          <a:prstGeom prst="rect">
            <a:avLst/>
          </a:prstGeom>
          <a:solidFill>
            <a:srgbClr val="F8FAFC"/>
          </a:solidFill>
          <a:ln w="10160">
            <a:solidFill>
              <a:srgbClr val="E53E3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3749040"/>
            <a:ext cx="713232" cy="47548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749040"/>
            <a:ext cx="71323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Ledger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614416" y="3749040"/>
            <a:ext cx="30632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CID + metadata written to Hyperledger Fabric ledger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4270248"/>
            <a:ext cx="38862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2C7A7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4270248"/>
            <a:ext cx="713232" cy="47548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4270248"/>
            <a:ext cx="71323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Retrieve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14416" y="4270248"/>
            <a:ext cx="30632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Authorised user fetches CID from chain → downloads file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D6B20"/>
                </a:solidFill>
              </a:rPr>
              <a:t>IMAGE PROCESSING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 for Medical Files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657600" cy="1371600"/>
          </a:xfrm>
          <a:prstGeom prst="rect">
            <a:avLst/>
          </a:prstGeom>
          <a:solidFill>
            <a:srgbClr val="000000"/>
          </a:solidFill>
          <a:ln w="1524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9728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53E3E"/>
                </a:solidFill>
              </a:rPr>
              <a:t>Challenge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8181"/>
                </a:solidFill>
              </a:rPr>
              <a:t>•  Medical images (DICOM, JPEG) can be 50–150MB in size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5450" y="1773555"/>
            <a:ext cx="3474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8181"/>
                </a:solidFill>
              </a:rPr>
              <a:t>•  Browser struggles to display high-resolution medical images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60520" y="1097280"/>
            <a:ext cx="4663440" cy="1371600"/>
          </a:xfrm>
          <a:prstGeom prst="rect">
            <a:avLst/>
          </a:prstGeom>
          <a:solidFill>
            <a:srgbClr val="000000"/>
          </a:solidFill>
          <a:ln w="1524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60520" y="1097280"/>
            <a:ext cx="4663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Results Achieved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51960" y="1463040"/>
            <a:ext cx="4480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D391"/>
                </a:solidFill>
              </a:rPr>
              <a:t>✓  Original: 25MB → Compressed: 16MB  (36% reduction)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51960" y="1737360"/>
            <a:ext cx="4480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D391"/>
                </a:solidFill>
              </a:rPr>
              <a:t>✓  Maintains diagnostic quality for medical review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51960" y="2011680"/>
            <a:ext cx="4480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606040"/>
            <a:ext cx="4160520" cy="2286000"/>
          </a:xfrm>
          <a:prstGeom prst="rect">
            <a:avLst/>
          </a:prstGeom>
          <a:solidFill>
            <a:srgbClr val="08162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2606040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Image Compression (sharp.js)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944368"/>
            <a:ext cx="397764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sharp = require('sharp');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compressImage(inputFile) {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Compress JPEG with 85% quality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Achieves 30-40% size reduction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while maintaining diagnostic quality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compressed = await sharp(inputFile)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.jpeg({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quality: 85,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mozjpeg: true  // Better algorithm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.toBuffer();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compressed;</a:t>
            </a:r>
            <a:endParaRPr lang="en-US" sz="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63440" y="2606040"/>
            <a:ext cx="4160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944368"/>
            <a:ext cx="3977640" cy="1874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LATENCY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Challenges &amp; Solutions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5029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07008"/>
            <a:ext cx="4297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07008"/>
            <a:ext cx="4297680" cy="3200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07008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Problem : Slow Blockchain Transactions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41148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Initial Performance: 8–12 seconds per transaction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Root Causes: Multiple endorsement requirements · Large block sizes · No database indexing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→ Solution: Database Indexing (CouchDB)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297680" cy="2029968"/>
          </a:xfrm>
          <a:prstGeom prst="rect">
            <a:avLst/>
          </a:prstGeom>
          <a:solidFill>
            <a:srgbClr val="0A1628"/>
          </a:solidFill>
          <a:ln w="1016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83464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A. Database Indexing (CouchDB)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163824"/>
            <a:ext cx="41148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indexes = [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fields: ['patientId'] },    // All records for patient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fields: ['doctorId'] },     // All patients for doctor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fields: ['recordId'] },     // Direct record lookup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fields: ['patientId','timestamp'] } // Recent records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8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8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Query time: 3-5s → 0.4-0.7 seconds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37760" y="3163824"/>
            <a:ext cx="379476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KEY FEATURE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Summary &amp; Emergency Break-Glass Access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 flipV="1">
            <a:off x="402590" y="1195705"/>
            <a:ext cx="1595755" cy="76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36065"/>
            <a:ext cx="484632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35938"/>
            <a:ext cx="4846320" cy="32918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35938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Latency Challenge Summary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865122"/>
            <a:ext cx="1280160" cy="274320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6512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</a:rPr>
              <a:t>Challenge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0" y="1865122"/>
            <a:ext cx="1188720" cy="274320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186512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</a:rPr>
              <a:t>Impact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34640" y="1865122"/>
            <a:ext cx="1143000" cy="274320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865122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</a:rPr>
              <a:t>Solution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977640" y="1865122"/>
            <a:ext cx="1143000" cy="274320"/>
          </a:xfrm>
          <a:prstGeom prst="rect">
            <a:avLst/>
          </a:prstGeom>
          <a:solidFill>
            <a:srgbClr val="EDF2F7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1865122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1F3A"/>
                </a:solidFill>
              </a:rPr>
              <a:t>Result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139442"/>
            <a:ext cx="128016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139442"/>
            <a:ext cx="120700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53E3E"/>
                </a:solidFill>
              </a:rPr>
              <a:t>Slow blockchain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53E3E"/>
                </a:solidFill>
              </a:rPr>
              <a:t>transactions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0" y="2139442"/>
            <a:ext cx="11887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82496" y="2139442"/>
            <a:ext cx="111556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8–12s wait,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poor UX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834640" y="2139442"/>
            <a:ext cx="114300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71216" y="2139442"/>
            <a:ext cx="106984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Database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indexing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977640" y="2139442"/>
            <a:ext cx="114300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14216" y="2139442"/>
            <a:ext cx="106984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2–3s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transactions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797810"/>
            <a:ext cx="1280160" cy="621792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2797810"/>
            <a:ext cx="120700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D6B20"/>
                </a:solidFill>
              </a:rPr>
              <a:t>Large medical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DD6B20"/>
                </a:solidFill>
              </a:rPr>
              <a:t>images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45920" y="2797810"/>
            <a:ext cx="1188720" cy="621792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82496" y="2797810"/>
            <a:ext cx="111556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50–150MB,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slow upload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834640" y="2797810"/>
            <a:ext cx="1143000" cy="621792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71216" y="2797810"/>
            <a:ext cx="106984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Compression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+ IPFS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977640" y="2797810"/>
            <a:ext cx="1143000" cy="621792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14216" y="2797810"/>
            <a:ext cx="106984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30–40% smaller,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2–4s download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167001" y="3218688"/>
            <a:ext cx="120700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871216" y="3127248"/>
            <a:ext cx="106984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014216" y="3127248"/>
            <a:ext cx="1069848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394960" y="1207008"/>
            <a:ext cx="3429000" cy="3566160"/>
          </a:xfrm>
          <a:prstGeom prst="rect">
            <a:avLst/>
          </a:prstGeom>
          <a:solidFill>
            <a:srgbClr val="0B1F3A"/>
          </a:solidFill>
          <a:ln w="19050">
            <a:solidFill>
              <a:srgbClr val="E53E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394960" y="1207008"/>
            <a:ext cx="3429000" cy="32918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394960" y="1207008"/>
            <a:ext cx="3429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🚨 Emergency Break-Glass Access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68112" y="162763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68112" y="162763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833872" y="1627632"/>
            <a:ext cx="2834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Patient Pre-Consent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833872" y="1810512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Patient enables breakGlassConsent flag in their profile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468112" y="2267712"/>
            <a:ext cx="292608" cy="292608"/>
          </a:xfrm>
          <a:prstGeom prst="ellipse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68112" y="226771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833872" y="2267712"/>
            <a:ext cx="2834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182CE"/>
                </a:solidFill>
              </a:rPr>
              <a:t>Doctor Requests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833872" y="2450592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createEmergencyRequest() — stored as PENDING on ledger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468112" y="2907792"/>
            <a:ext cx="292608" cy="292608"/>
          </a:xfrm>
          <a:prstGeom prst="ellipse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68112" y="29077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833872" y="2907792"/>
            <a:ext cx="2834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D6B20"/>
                </a:solidFill>
              </a:rPr>
              <a:t>Hospital Approves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833872" y="3090672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processEmergencyRequest() → APPROVE or REJECT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468112" y="3547872"/>
            <a:ext cx="292608" cy="292608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68112" y="354787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833872" y="3547872"/>
            <a:ext cx="2834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53E3E"/>
                </a:solidFill>
              </a:rPr>
              <a:t>Access Granted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833872" y="3730752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EMERGENCY_ACCESS key created linking doctor to patient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468112" y="4187952"/>
            <a:ext cx="292608" cy="292608"/>
          </a:xfrm>
          <a:prstGeom prst="ellipse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68112" y="418795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833872" y="4187952"/>
            <a:ext cx="2834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05AD5"/>
                </a:solidFill>
              </a:rPr>
              <a:t>Auditable Revocation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833872" y="4370832"/>
            <a:ext cx="2834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</a:rPr>
              <a:t>revokeEmergencyAccess() → status set REVOKED on ledger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02590" y="3730625"/>
            <a:ext cx="484632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2590" y="3730625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Performance Metrics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31190" y="3986657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TPS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31190" y="4260977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Peak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2203958" y="3986657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ms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2203958" y="4260977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Query Latency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776726" y="3986657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2–4s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3776726" y="4260977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Write Latency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</a:rPr>
              <a:t>PERFORMANCE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 &amp; Benchmarks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029968" cy="987552"/>
          </a:xfrm>
          <a:prstGeom prst="rect">
            <a:avLst/>
          </a:prstGeom>
          <a:solidFill>
            <a:srgbClr val="0D2040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70432"/>
            <a:ext cx="2029968" cy="5029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TPS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673352"/>
            <a:ext cx="20299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Peak Throughput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911096"/>
            <a:ext cx="202996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via Hyperledger Caliper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96312" y="1170432"/>
            <a:ext cx="2029968" cy="987552"/>
          </a:xfrm>
          <a:prstGeom prst="rect">
            <a:avLst/>
          </a:prstGeom>
          <a:solidFill>
            <a:srgbClr val="0D2040"/>
          </a:solidFill>
          <a:ln w="19050">
            <a:solidFill>
              <a:srgbClr val="3182C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96312" y="1170432"/>
            <a:ext cx="2029968" cy="5029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18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ms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96312" y="1673352"/>
            <a:ext cx="20299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Query Latency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496312" y="1911096"/>
            <a:ext cx="202996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CouchDB indexed (was 450ms)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72584" y="1170432"/>
            <a:ext cx="2029968" cy="987552"/>
          </a:xfrm>
          <a:prstGeom prst="rect">
            <a:avLst/>
          </a:prstGeom>
          <a:solidFill>
            <a:srgbClr val="0D2040"/>
          </a:solidFill>
          <a:ln w="19050">
            <a:solidFill>
              <a:srgbClr val="805AD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72584" y="1170432"/>
            <a:ext cx="2029968" cy="5029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72584" y="1673352"/>
            <a:ext cx="20299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IPFS Retrieval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72584" y="1911096"/>
            <a:ext cx="202996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Pinata CDN (was 8–15s)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48856" y="1170432"/>
            <a:ext cx="2029968" cy="987552"/>
          </a:xfrm>
          <a:prstGeom prst="rect">
            <a:avLst/>
          </a:prstGeom>
          <a:solidFill>
            <a:srgbClr val="0D2040"/>
          </a:solidFill>
          <a:ln w="19050">
            <a:solidFill>
              <a:srgbClr val="DD6B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48856" y="1170432"/>
            <a:ext cx="2029968" cy="50292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48856" y="1673352"/>
            <a:ext cx="20299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Write Latency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48856" y="1911096"/>
            <a:ext cx="202996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Full commit cycle</a:t>
            </a:r>
            <a:endParaRPr lang="en-US" sz="8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320040" y="2377440"/>
          <a:ext cx="50292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5577840" y="2377440"/>
            <a:ext cx="3200400" cy="2514600"/>
          </a:xfrm>
          <a:prstGeom prst="rect">
            <a:avLst/>
          </a:prstGeom>
          <a:solidFill>
            <a:srgbClr val="0D20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577840" y="2377440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Why Curanet Wins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69280" y="2788920"/>
            <a:ext cx="30175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</a:t>
            </a:r>
            <a:r>
              <a:rPr lang="en-US" sz="950" dirty="0">
                <a:solidFill>
                  <a:srgbClr val="94A3B8"/>
                </a:solidFill>
              </a:rPr>
              <a:t> Faaster than Ethereum for healthcare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669280" y="3136392"/>
            <a:ext cx="30175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669280" y="3483864"/>
            <a:ext cx="30175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r>
              <a:rPr lang="en-US" sz="950" dirty="0">
                <a:solidFill>
                  <a:srgbClr val="94A3B8"/>
                </a:solidFill>
              </a:rPr>
              <a:t>No ledger bloat — IPFS off-chain storage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669280" y="3831336"/>
            <a:ext cx="30175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r>
              <a:rPr lang="en-US" sz="950" dirty="0">
                <a:solidFill>
                  <a:srgbClr val="94A3B8"/>
                </a:solidFill>
              </a:rPr>
              <a:t>Fine-grained patient access control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669280" y="4178808"/>
            <a:ext cx="30175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r>
              <a:rPr lang="en-US" sz="950" dirty="0">
                <a:solidFill>
                  <a:srgbClr val="94A3B8"/>
                </a:solidFill>
              </a:rPr>
              <a:t>Emergency break-glass access built-in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669280" y="3113405"/>
            <a:ext cx="30175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✓  </a:t>
            </a:r>
            <a:r>
              <a:rPr lang="en-US" sz="950" dirty="0">
                <a:solidFill>
                  <a:srgbClr val="94A3B8"/>
                </a:solidFill>
              </a:rPr>
              <a:t>Immutable audit trail for compliance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474720" cy="3474720"/>
          </a:xfrm>
          <a:prstGeom prst="ellipse">
            <a:avLst/>
          </a:prstGeom>
          <a:solidFill>
            <a:srgbClr val="0D2040"/>
          </a:solidFill>
          <a:ln w="12700">
            <a:solidFill>
              <a:srgbClr val="1E4A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</a:rPr>
              <a:t>CONCLUSION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 &amp; What's Next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5715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✓  </a:t>
            </a:r>
            <a:r>
              <a:rPr lang="en-US" sz="1050" dirty="0">
                <a:solidFill>
                  <a:srgbClr val="FFFFFF"/>
                </a:solidFill>
              </a:rPr>
              <a:t>Fully functional permissioned blockchain EHR system on Hyperledger Fabric 2.5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591056"/>
            <a:ext cx="5715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✓  </a:t>
            </a:r>
            <a:r>
              <a:rPr lang="en-US" sz="1050" dirty="0">
                <a:solidFill>
                  <a:srgbClr val="FFFFFF"/>
                </a:solidFill>
              </a:rPr>
              <a:t>REST API endpoints — registration, records, access control, admin &amp; audit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993392"/>
            <a:ext cx="5715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✓  </a:t>
            </a:r>
            <a:r>
              <a:rPr lang="en-US" sz="1050" dirty="0">
                <a:solidFill>
                  <a:srgbClr val="FFFFFF"/>
                </a:solidFill>
              </a:rPr>
              <a:t>Emergency break-glass access with hospital approval &amp; full revocation workflow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395728"/>
            <a:ext cx="5715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✓  </a:t>
            </a:r>
            <a:r>
              <a:rPr lang="en-US" sz="1050" dirty="0">
                <a:solidFill>
                  <a:schemeClr val="bg1"/>
                </a:solidFill>
              </a:rPr>
              <a:t>Patient-controlled access: grant, revoke, and approve doctor access requests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20040" y="2798064"/>
            <a:ext cx="5715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✓  </a:t>
            </a:r>
            <a:r>
              <a:rPr lang="en-US" sz="1050" dirty="0">
                <a:solidFill>
                  <a:schemeClr val="bg1"/>
                </a:solidFill>
              </a:rPr>
              <a:t>AES-256 encrypted off-chain IPFS storage — no ledger bloat, full privacy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" y="3200400"/>
            <a:ext cx="5715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✓ </a:t>
            </a:r>
            <a:r>
              <a:rPr lang="en-US" sz="1050" b="1" dirty="0">
                <a:solidFill>
                  <a:schemeClr val="bg1"/>
                </a:solidFill>
              </a:rPr>
              <a:t> </a:t>
            </a:r>
            <a:r>
              <a:rPr lang="en-US" sz="1050" dirty="0">
                <a:solidFill>
                  <a:schemeClr val="bg1"/>
                </a:solidFill>
              </a:rPr>
              <a:t>Image compression (36% size reduction) + thumbnail generation for fast preview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3602736"/>
            <a:ext cx="5715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✓  </a:t>
            </a:r>
            <a:r>
              <a:rPr lang="en-US" sz="1050" dirty="0">
                <a:solidFill>
                  <a:schemeClr val="bg1"/>
                </a:solidFill>
              </a:rPr>
              <a:t>CouchDB indexing: query latency reduced from 3–5s to 0.4–0.7 seconds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63640" y="1188720"/>
            <a:ext cx="2560320" cy="3566160"/>
          </a:xfrm>
          <a:prstGeom prst="rect">
            <a:avLst/>
          </a:prstGeom>
          <a:solidFill>
            <a:srgbClr val="0D2040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11887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Future Scope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160020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→  </a:t>
            </a:r>
            <a:r>
              <a:rPr lang="en-US" sz="950" dirty="0">
                <a:solidFill>
                  <a:srgbClr val="94A3B8"/>
                </a:solidFill>
              </a:rPr>
              <a:t>Insurance org (Org2MSP) integration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55080" y="2020824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→  </a:t>
            </a:r>
            <a:r>
              <a:rPr lang="en-US" sz="950" dirty="0">
                <a:solidFill>
                  <a:srgbClr val="94A3B8"/>
                </a:solidFill>
              </a:rPr>
              <a:t>Attribute-Based Encryption (ABE)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55080" y="244144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→  </a:t>
            </a:r>
            <a:r>
              <a:rPr lang="en-US" sz="950" dirty="0">
                <a:solidFill>
                  <a:srgbClr val="94A3B8"/>
                </a:solidFill>
              </a:rPr>
              <a:t>HL7/FHIR API compliance layer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55080" y="2862072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→  </a:t>
            </a:r>
            <a:r>
              <a:rPr lang="en-US" sz="950" dirty="0">
                <a:solidFill>
                  <a:srgbClr val="94A3B8"/>
                </a:solidFill>
              </a:rPr>
              <a:t>Pharmacy prescription module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55080" y="3282696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→  </a:t>
            </a:r>
            <a:r>
              <a:rPr lang="en-US" sz="950" dirty="0">
                <a:solidFill>
                  <a:srgbClr val="94A3B8"/>
                </a:solidFill>
              </a:rPr>
              <a:t>Researcher consent &amp; data sharing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55080" y="37033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→  </a:t>
            </a:r>
            <a:r>
              <a:rPr lang="en-US" sz="950" dirty="0">
                <a:solidFill>
                  <a:srgbClr val="94A3B8"/>
                </a:solidFill>
              </a:rPr>
              <a:t>Reward tokens for patient consent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55080" y="4123944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→  </a:t>
            </a:r>
            <a:r>
              <a:rPr lang="en-US" sz="950" dirty="0">
                <a:solidFill>
                  <a:srgbClr val="94A3B8"/>
                </a:solidFill>
              </a:rPr>
              <a:t>Mobile app (React Native)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0918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EEAD4"/>
                </a:solidFill>
              </a:rPr>
              <a:t>"Secure · Scalable · Interoperable — Healthcare Data, Reimagined with Blockchain"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10121</Words>
  <Application>WPS Presentation</Application>
  <PresentationFormat>On-screen Show (16:9)</PresentationFormat>
  <Paragraphs>588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3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Consolas</vt:lpstr>
      <vt:lpstr>Consolas</vt:lpstr>
      <vt:lpstr>Consolas</vt:lpstr>
      <vt:lpstr>Arial</vt:lpstr>
      <vt:lpstr>Microsoft YaHei</vt:lpstr>
      <vt:lpstr>汉仪旗黑</vt:lpstr>
      <vt:lpstr>Arial Unicode MS</vt:lpstr>
      <vt:lpstr>Apple Color Emoji</vt:lpstr>
      <vt:lpstr>宋体-简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Curanet – EHR Interoperability using Hyperledger Fabric</dc:title>
  <dc:creator>PptxGenJS</dc:creator>
  <dc:subject>PptxGenJS Presentation</dc:subject>
  <cp:lastModifiedBy>Royston Dsouza</cp:lastModifiedBy>
  <cp:revision>13</cp:revision>
  <dcterms:created xsi:type="dcterms:W3CDTF">2026-05-20T05:11:40Z</dcterms:created>
  <dcterms:modified xsi:type="dcterms:W3CDTF">2026-05-20T05:11:40Z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EA9D41EF37628701E3260D6AD14E2833_43</vt:lpwstr>
  </property>
  <property fmtid="{D5CDD505-2E9C-101B-9397-08002B2CF9AE}" pid="3" name="KSOProductBuildVer">
    <vt:lpwstr>1033-12.1.25880.25880</vt:lpwstr>
  </property>
</Properties>
</file>